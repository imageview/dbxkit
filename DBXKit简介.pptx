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20" Type="http://schemas.openxmlformats.org/officeDocument/2006/relationships/slide" Target="slides/slide20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9" Type="http://schemas.openxmlformats.org/officeDocument/2006/relationships/slide" Target="slides/slide19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4" Type="http://schemas.openxmlformats.org/officeDocument/2006/relationships/slide" Target="slides/slide4.xml" /><Relationship Id="rId15" Type="http://schemas.openxmlformats.org/officeDocument/2006/relationships/slide" Target="slides/slide15.xml" /><Relationship Id="rId22" Type="http://schemas.openxmlformats.org/officeDocument/2006/relationships/slide" Target="slides/slide22.xml" /><Relationship Id="rId23" Type="http://schemas.openxmlformats.org/officeDocument/2006/relationships/tableStyles" Target="tableStyles.xml" /><Relationship Id="rId18" Type="http://schemas.openxmlformats.org/officeDocument/2006/relationships/slide" Target="slides/slide18.xml" /><Relationship Id="rId16" Type="http://schemas.openxmlformats.org/officeDocument/2006/relationships/slide" Target="slides/slide16.xml" /><Relationship Id="rId2" Type="http://schemas.openxmlformats.org/officeDocument/2006/relationships/slide" Target="slides/slide2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2" Type="http://schemas.openxmlformats.org/officeDocument/2006/relationships/slideLayout" Target="../slideLayouts/slideLayout3.xml" /><Relationship Id="rId9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4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3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16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5.png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18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17.pn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image" Target="media/image8.png" /><Relationship Id="rId0" Type="http://schemas.openxmlformats.org/officeDocument/2006/relationships/slideLayout" Target="../slideLayouts/slideLayout2.xml" /><Relationship Id="rId3" Type="http://schemas.openxmlformats.org/officeDocument/2006/relationships/image" Target="media/image9.png" /><Relationship Id="rId1" Type="http://schemas.openxmlformats.org/officeDocument/2006/relationships/image" Target="media/image7.png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DBXKit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 rot="0" flipH="false" flipV="false">
            <a:off x="2620689" y="3602038"/>
            <a:ext cx="3475311" cy="2878419"/>
          </a:xfrm>
        </p:spPr>
        <p:txBody>
          <a:bodyPr>
            <a:normAutofit fontScale="100000"/>
          </a:bodyPr>
          <a:lstStyle/>
          <a:p>
            <a:pPr marL="457200" indent="-457200" algn="l">
              <a:buFont typeface="Wingdings" charset="2"/>
              <a:buChar char="Ø"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Chain</a:t>
            </a:r>
            <a:endParaRPr/>
          </a:p>
          <a:p>
            <a:pPr marL="457200" indent="-457200" algn="l">
              <a:buFont typeface="Wingdings" charset="2"/>
              <a:buChar char="Ø"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DBXList</a:t>
            </a:r>
            <a:endParaRPr/>
          </a:p>
          <a:p>
            <a:pPr marL="457200" indent="-457200" algn="l">
              <a:buFont typeface="Wingdings" charset="2"/>
              <a:buChar char="Ø"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Stubs</a:t>
            </a:r>
            <a:endParaRPr/>
          </a:p>
          <a:p>
            <a:pPr marL="285750" indent="-285750" algn="l">
              <a:buFont typeface="Wingdings" charset="2"/>
              <a:buChar char="Ø"/>
            </a:pPr>
            <a:endParaRPr lang="en-US" b="true">
              <a:solidFill>
                <a:srgbClr val="F88825">
                  <a:alpha val="100000"/>
                </a:srgbClr>
              </a:solidFill>
            </a:endParaRPr>
          </a:p>
        </p:txBody>
      </p:sp>
      <p:sp>
        <p:nvSpPr>
          <p:cNvPr id="4" name="副标题 2"/>
          <p:cNvSpPr txBox="true">
            <a:spLocks noGrp="true"/>
          </p:cNvSpPr>
          <p:nvPr/>
        </p:nvSpPr>
        <p:spPr>
          <a:xfrm rot="0" flipH="false" flipV="false">
            <a:off x="6670280" y="3602038"/>
            <a:ext cx="3475311" cy="2878419"/>
          </a:xfrm>
          <a:prstGeom prst="rect"/>
          <a:ln>
            <a:extLst/>
          </a:ln>
        </p:spPr>
        <p:txBody>
          <a:bodyPr vert="horz" lIns="91440" tIns="45720" rIns="91440" bIns="45720">
            <a:normAutofit fontScale="100000"/>
          </a:bodyPr>
          <a:lstStyle/>
          <a:p>
            <a:pPr marL="457200" lvl="0" indent="-457200" algn="l" defTabSz="914400">
              <a:lnSpc>
                <a:spcPct val="130000"/>
              </a:lnSpc>
              <a:spcBef>
                <a:spcPts val="1000"/>
              </a:spcBef>
              <a:buFont typeface="Wingdings" charset="2"/>
              <a:buChar char="Ø"/>
              <a:defRPr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en-US" sz="2400" b="true">
                <a:solidFill>
                  <a:srgbClr val="f88825">
                    <a:alpha val="100000"/>
                  </a:srgbClr>
                </a:solidFill>
                <a:latin typeface="Arial"/>
                <a:ea typeface="Microsoft YaHei"/>
              </a:rPr>
              <a:t>Debo</a:t>
            </a:r>
            <a:r>
              <a:rPr lang="en-US" sz="2400" b="true" i="false" u="none" strike="noStrike">
                <a:solidFill>
                  <a:srgbClr val="f88825">
                    <a:alpha val="100000"/>
                  </a:srgbClr>
                </a:solidFill>
                <a:latin typeface="Arial"/>
                <a:ea typeface="Microsoft YaHei"/>
              </a:rPr>
              <a:t>u</a:t>
            </a:r>
            <a:r>
              <a:rPr lang="en-US" sz="2400" b="true">
                <a:solidFill>
                  <a:srgbClr val="f88825">
                    <a:alpha val="100000"/>
                  </a:srgbClr>
                </a:solidFill>
                <a:latin typeface="Arial"/>
                <a:ea typeface="Microsoft YaHei"/>
              </a:rPr>
              <a:t>nce</a:t>
            </a:r>
            <a:endParaRPr sz="24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  <a:p>
            <a:pPr marL="457200" lvl="0" indent="-457200" algn="l" defTabSz="914400">
              <a:lnSpc>
                <a:spcPct val="130000"/>
              </a:lnSpc>
              <a:spcBef>
                <a:spcPts val="1000"/>
              </a:spcBef>
              <a:buFont typeface="Wingdings" charset="2"/>
              <a:buChar char="Ø"/>
              <a:defRPr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en-US" sz="2400" b="true">
                <a:solidFill>
                  <a:srgbClr val="f88825">
                    <a:alpha val="100000"/>
                  </a:srgbClr>
                </a:solidFill>
                <a:latin typeface="Arial"/>
                <a:ea typeface="Microsoft YaHei"/>
              </a:rPr>
              <a:t>Track</a:t>
            </a:r>
            <a:endParaRPr sz="24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  <a:p>
            <a:pPr marL="457200" lvl="0" indent="-457200" algn="l" defTabSz="914400">
              <a:lnSpc>
                <a:spcPct val="130000"/>
              </a:lnSpc>
              <a:spcBef>
                <a:spcPts val="1000"/>
              </a:spcBef>
              <a:buFont typeface="Wingdings" charset="2"/>
              <a:buChar char="Ø"/>
              <a:defRPr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400" b="true">
                <a:solidFill>
                  <a:srgbClr val="f88825">
                    <a:alpha val="100000"/>
                  </a:srgbClr>
                </a:solidFill>
                <a:latin typeface="Arial"/>
                <a:ea typeface="Microsoft YaHei"/>
              </a:rPr>
              <a:t>系统类的扩展</a:t>
            </a:r>
            <a:endParaRPr sz="24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  <a:p>
            <a:pPr marL="285750" lvl="0" indent="-285750" algn="l" defTabSz="914400">
              <a:lnSpc>
                <a:spcPct val="130000"/>
              </a:lnSpc>
              <a:spcBef>
                <a:spcPts val="1000"/>
              </a:spcBef>
              <a:buFont typeface="Wingdings" charset="2"/>
              <a:buChar char="Ø"/>
              <a:defRPr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endParaRPr lang="en-US" sz="2400" b="true">
              <a:solidFill>
                <a:srgbClr val="f88825">
                  <a:alpha val="100000"/>
                </a:srgbClr>
              </a:solidFill>
              <a:latin typeface="Arial"/>
              <a:ea typeface="Microsoft YaHei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1164785"/>
            <a:ext cx="10515600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Chain</a:t>
            </a:r>
            <a:r>
              <a:rPr lang="en-US"/>
              <a:t> </a:t>
            </a:r>
            <a:r>
              <a:rPr lang="zh-CN" sz="2000" b="true"/>
              <a:t>让代码简洁、直观、好扩展</a:t>
            </a:r>
            <a:endParaRPr/>
          </a:p>
        </p:txBody>
      </p:sp>
      <p:sp>
        <p:nvSpPr>
          <p:cNvPr id="40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838200" y="2490348"/>
            <a:ext cx="10515600" cy="3686614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提供一个链式调用函数的框架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同步异步均支持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"/>
          <p:cNvSpPr txBox="true"/>
          <p:nvPr/>
        </p:nvSpPr>
        <p:spPr>
          <a:xfrm rot="0" flipH="false" flipV="false">
            <a:off x="528541" y="1221055"/>
            <a:ext cx="5664200" cy="5651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400" b="true"/>
              <a:t>代码逻辑复杂函数较多情况下的传统写法</a:t>
            </a:r>
            <a:endParaRPr/>
          </a:p>
        </p:txBody>
      </p:sp>
      <p:sp>
        <p:nvSpPr>
          <p:cNvPr id="59" name=""/>
          <p:cNvSpPr txBox="true"/>
          <p:nvPr/>
        </p:nvSpPr>
        <p:spPr>
          <a:xfrm rot="0" flipH="false" flipV="false">
            <a:off x="640405" y="2876010"/>
            <a:ext cx="6026150" cy="15176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 sz="1800" b="true"/>
              <a:t>写法一：函数里面调用函数</a:t>
            </a:r>
            <a:endParaRPr/>
          </a:p>
          <a:p>
            <a:pPr/>
            <a:endParaRPr lang="en-US" sz="1800"/>
          </a:p>
          <a:p>
            <a:pPr marL="285750" indent="-285750">
              <a:buFont typeface="Arial" charset="0"/>
              <a:buChar char="•"/>
            </a:pPr>
            <a:r>
              <a:rPr lang="zh-CN" sz="1800"/>
              <a:t>回溯代码逻辑需要一个一个函数看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zh-CN" sz="1800"/>
              <a:t>修改难度大</a:t>
            </a:r>
            <a:endParaRPr/>
          </a:p>
        </p:txBody>
      </p:sp>
      <p:pic>
        <p:nvPicPr>
          <p:cNvPr id="6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7928582" y="198606"/>
            <a:ext cx="2798632" cy="6460787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true"/>
          <p:nvPr/>
        </p:nvSpPr>
        <p:spPr>
          <a:xfrm rot="0" flipH="false" flipV="false">
            <a:off x="609600" y="2883711"/>
            <a:ext cx="5486400" cy="15176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 sz="1800" b="true"/>
              <a:t>写法二：函数里面加回调</a:t>
            </a:r>
            <a:endParaRPr/>
          </a:p>
          <a:p>
            <a:pPr/>
            <a:endParaRPr lang="en-US" sz="1800"/>
          </a:p>
          <a:p>
            <a:pPr marL="285750" indent="-285750">
              <a:buFont typeface="Arial" charset="0"/>
              <a:buChar char="•"/>
            </a:pPr>
            <a:r>
              <a:rPr lang="zh-CN" sz="1800"/>
              <a:t>回调里面套回调，嵌套太多形成回调地狱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zh-CN" sz="1800"/>
              <a:t>修改难度大</a:t>
            </a:r>
            <a:endParaRPr/>
          </a:p>
        </p:txBody>
      </p:sp>
      <p:pic>
        <p:nvPicPr>
          <p:cNvPr id="6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7017163" y="207613"/>
            <a:ext cx="4535526" cy="6442775"/>
          </a:xfrm>
          <a:prstGeom prst="rect"/>
        </p:spPr>
      </p:pic>
      <p:sp>
        <p:nvSpPr>
          <p:cNvPr id="64" name=""/>
          <p:cNvSpPr txBox="true"/>
          <p:nvPr/>
        </p:nvSpPr>
        <p:spPr>
          <a:xfrm rot="0" flipH="false" flipV="false">
            <a:off x="438563" y="1232170"/>
            <a:ext cx="5664200" cy="5651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400" b="true"/>
              <a:t>代码逻辑复杂函数较多情况下的传统写法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755532" y="448654"/>
            <a:ext cx="6096000" cy="5960692"/>
          </a:xfrm>
          <a:prstGeom prst="rect"/>
        </p:spPr>
      </p:pic>
      <p:sp>
        <p:nvSpPr>
          <p:cNvPr id="67" name=""/>
          <p:cNvSpPr txBox="true"/>
          <p:nvPr/>
        </p:nvSpPr>
        <p:spPr>
          <a:xfrm rot="0" flipH="false" flipV="false">
            <a:off x="796047" y="1762598"/>
            <a:ext cx="4241800" cy="22733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 sz="2000" b="true"/>
              <a:t>用</a:t>
            </a:r>
            <a:r>
              <a:rPr lang="en-US" sz="2000" b="true">
                <a:solidFill>
                  <a:srgbClr val="F88825">
                    <a:alpha val="100000"/>
                  </a:srgbClr>
                </a:solidFill>
              </a:rPr>
              <a:t>Chain</a:t>
            </a:r>
            <a:r>
              <a:rPr lang="zh-CN" sz="2000" b="true"/>
              <a:t>的写法</a:t>
            </a:r>
            <a:endParaRPr/>
          </a:p>
          <a:p>
            <a:pPr/>
            <a:endParaRPr lang="en-US" sz="1800"/>
          </a:p>
          <a:p>
            <a:pPr marL="285750" indent="-285750">
              <a:buFont typeface="Arial" charset="0"/>
              <a:buChar char="•"/>
            </a:pPr>
            <a:r>
              <a:rPr lang="zh-CN" sz="1800"/>
              <a:t>直观的看到函数调用步骤，没有嵌套，也不用到处跳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zh-CN" sz="1800"/>
              <a:t>修改简单，换个位置就能改变函数调用顺序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4899197" y="390463"/>
            <a:ext cx="6833291" cy="6077073"/>
          </a:xfrm>
          <a:prstGeom prst="rect"/>
        </p:spPr>
      </p:pic>
      <p:pic>
        <p:nvPicPr>
          <p:cNvPr id="70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86500" y="1198393"/>
            <a:ext cx="3971848" cy="5038017"/>
          </a:xfrm>
          <a:prstGeom prst="rect"/>
        </p:spPr>
      </p:pic>
      <p:sp>
        <p:nvSpPr>
          <p:cNvPr id="71" name=""/>
          <p:cNvSpPr txBox="true"/>
          <p:nvPr/>
        </p:nvSpPr>
        <p:spPr>
          <a:xfrm rot="0" flipH="false" flipV="false">
            <a:off x="586500" y="494489"/>
            <a:ext cx="3058268" cy="4889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 sz="2000"/>
              <a:t>加速器里实际使用场景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1164785"/>
            <a:ext cx="10515600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DBXList </a:t>
            </a: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数据驱动</a:t>
            </a:r>
            <a:r>
              <a:rPr lang="en-US" sz="20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UI</a:t>
            </a: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，模块化混合列表</a:t>
            </a:r>
            <a:endParaRPr/>
          </a:p>
        </p:txBody>
      </p:sp>
      <p:sp>
        <p:nvSpPr>
          <p:cNvPr id="74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838200" y="2490348"/>
            <a:ext cx="10515600" cy="3686614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 sz="2400"/>
              <a:t>主要解决</a:t>
            </a:r>
            <a:r>
              <a:rPr lang="en-US" sz="2400"/>
              <a:t>cell</a:t>
            </a:r>
            <a:r>
              <a:rPr lang="zh-CN" sz="2400" b="true"/>
              <a:t>混合列表</a:t>
            </a:r>
            <a:r>
              <a:rPr lang="zh-CN" sz="2400"/>
              <a:t>的问题，例如游戏、咨询等列表里混合广告</a:t>
            </a:r>
            <a:r>
              <a:rPr lang="en-US" sz="2400"/>
              <a:t>cell</a:t>
            </a:r>
            <a:endParaRPr/>
          </a:p>
          <a:p>
            <a:pPr>
              <a:buFont typeface="Arial" charset="0"/>
              <a:buChar char="•"/>
            </a:pPr>
            <a:r>
              <a:rPr lang="zh-CN" sz="2400"/>
              <a:t>列表刷新性能强，自动计算发生变更的</a:t>
            </a:r>
            <a:r>
              <a:rPr lang="en-US" sz="2400"/>
              <a:t>cell</a:t>
            </a:r>
            <a:r>
              <a:rPr lang="zh-CN" sz="2400"/>
              <a:t>，只刷新变更部分，不再直接</a:t>
            </a:r>
            <a:r>
              <a:rPr lang="en-US" sz="2400"/>
              <a:t>reloadData</a:t>
            </a:r>
            <a:r>
              <a:rPr lang="zh-CN" sz="2400"/>
              <a:t>刷新全局</a:t>
            </a:r>
            <a:endParaRPr/>
          </a:p>
          <a:p>
            <a:pPr>
              <a:buFont typeface="Arial" charset="0"/>
              <a:buChar char="•"/>
            </a:pPr>
            <a:r>
              <a:rPr lang="zh-CN" sz="2400"/>
              <a:t>遵循开闭原则，</a:t>
            </a:r>
            <a:r>
              <a:rPr lang="zh-CN" sz="2400"/>
              <a:t>高内聚低耦合、复用能力强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6096000" y="736552"/>
            <a:ext cx="6096000" cy="5336711"/>
          </a:xfrm>
          <a:prstGeom prst="rect"/>
        </p:spPr>
      </p:pic>
      <p:pic>
        <p:nvPicPr>
          <p:cNvPr id="7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00469" y="737419"/>
            <a:ext cx="5780821" cy="3493367"/>
          </a:xfrm>
          <a:prstGeom prst="rect"/>
        </p:spPr>
      </p:pic>
      <p:sp>
        <p:nvSpPr>
          <p:cNvPr id="78" name=""/>
          <p:cNvSpPr txBox="true"/>
          <p:nvPr/>
        </p:nvSpPr>
        <p:spPr>
          <a:xfrm rot="0" flipH="false" flipV="false">
            <a:off x="323372" y="4555613"/>
            <a:ext cx="5048250" cy="15176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zh-CN"/>
              <a:t>传统写法需要在没一个代理函数里写</a:t>
            </a:r>
            <a:r>
              <a:rPr lang="en-US"/>
              <a:t>if else</a:t>
            </a:r>
            <a:r>
              <a:rPr lang="zh-CN"/>
              <a:t>来区分不同</a:t>
            </a:r>
            <a:r>
              <a:rPr lang="en-US"/>
              <a:t>cell</a:t>
            </a:r>
            <a:r>
              <a:rPr lang="zh-CN"/>
              <a:t>的逻辑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zh-CN"/>
              <a:t>需要大量改动代码，并且代码不可复用，每换一个页面都需要重新写这些逻辑</a:t>
            </a:r>
            <a:endParaRPr/>
          </a:p>
        </p:txBody>
      </p:sp>
      <p:sp>
        <p:nvSpPr>
          <p:cNvPr id="79" name=""/>
          <p:cNvSpPr txBox="true"/>
          <p:nvPr/>
        </p:nvSpPr>
        <p:spPr>
          <a:xfrm rot="0" flipH="false" flipV="false">
            <a:off x="474679" y="13519"/>
            <a:ext cx="2616200" cy="7239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3200">
                <a:solidFill>
                  <a:srgbClr val="F88825">
                    <a:alpha val="100000"/>
                  </a:srgbClr>
                </a:solidFill>
              </a:rPr>
              <a:t>提升开发效率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843700" y="572102"/>
            <a:ext cx="6251436" cy="5456903"/>
          </a:xfrm>
          <a:prstGeom prst="rect"/>
        </p:spPr>
      </p:pic>
      <p:pic>
        <p:nvPicPr>
          <p:cNvPr id="82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06516" y="3844222"/>
            <a:ext cx="5737184" cy="2184783"/>
          </a:xfrm>
          <a:prstGeom prst="rect"/>
        </p:spPr>
      </p:pic>
      <p:sp>
        <p:nvSpPr>
          <p:cNvPr id="83" name=""/>
          <p:cNvSpPr txBox="true"/>
          <p:nvPr/>
        </p:nvSpPr>
        <p:spPr>
          <a:xfrm rot="0" flipH="false" flipV="false">
            <a:off x="291209" y="838200"/>
            <a:ext cx="5372100" cy="2946400"/>
          </a:xfrm>
          <a:prstGeom prst="rect"/>
        </p:spPr>
        <p:txBody>
          <a:bodyPr>
            <a:spAutoFit/>
          </a:bodyPr>
          <a:p>
            <a:pPr marL="285750" lvl="0" indent="-285750">
              <a:buFont typeface="Arial" charset="0"/>
              <a:buChar char="•"/>
            </a:pPr>
            <a:r>
              <a:rPr lang="zh-CN" sz="1800"/>
              <a:t>用</a:t>
            </a:r>
            <a:r>
              <a:rPr lang="en-US" sz="1800"/>
              <a:t>DBXList</a:t>
            </a:r>
            <a:r>
              <a:rPr lang="zh-CN" sz="1800"/>
              <a:t>改造后，不同</a:t>
            </a:r>
            <a:r>
              <a:rPr lang="en-US" sz="1800"/>
              <a:t>cell</a:t>
            </a:r>
            <a:r>
              <a:rPr lang="zh-CN" sz="1800"/>
              <a:t>的逻辑被隔离在各自的</a:t>
            </a:r>
            <a:r>
              <a:rPr lang="en-US" sz="1800"/>
              <a:t>controller</a:t>
            </a:r>
            <a:r>
              <a:rPr lang="zh-CN" sz="1800"/>
              <a:t>中，要新增一个</a:t>
            </a:r>
            <a:r>
              <a:rPr lang="en-US" sz="1800"/>
              <a:t>cell</a:t>
            </a:r>
            <a:r>
              <a:rPr lang="zh-CN" sz="1800"/>
              <a:t>（如广告</a:t>
            </a:r>
            <a:r>
              <a:rPr lang="en-US" sz="1800"/>
              <a:t>cell</a:t>
            </a:r>
            <a:r>
              <a:rPr lang="zh-CN" sz="1800"/>
              <a:t>）只需要创建广告的</a:t>
            </a:r>
            <a:r>
              <a:rPr lang="en-US" sz="1800"/>
              <a:t>controller</a:t>
            </a:r>
            <a:r>
              <a:rPr lang="zh-CN" sz="1800"/>
              <a:t>和数据模型，然后添加到数据源中即可</a:t>
            </a:r>
            <a:endParaRPr/>
          </a:p>
          <a:p>
            <a:pPr marL="285750" lvl="0" indent="-285750">
              <a:buFont typeface="Arial" charset="0"/>
              <a:buChar char="•"/>
            </a:pPr>
            <a:r>
              <a:rPr lang="zh-CN" sz="1800"/>
              <a:t>每个</a:t>
            </a:r>
            <a:r>
              <a:rPr lang="en-US" sz="1800"/>
              <a:t>cell</a:t>
            </a:r>
            <a:r>
              <a:rPr lang="zh-CN" sz="1800"/>
              <a:t>的</a:t>
            </a:r>
            <a:r>
              <a:rPr lang="en-US" sz="1800"/>
              <a:t>controller</a:t>
            </a:r>
            <a:r>
              <a:rPr lang="zh-CN" sz="1800"/>
              <a:t>的业务逻辑</a:t>
            </a:r>
            <a:r>
              <a:rPr lang="zh-CN" sz="1800"/>
              <a:t>是独立的，可以进行单元测试</a:t>
            </a:r>
            <a:endParaRPr/>
          </a:p>
          <a:p>
            <a:pPr marL="285750" lvl="0" indent="-285750">
              <a:buFont typeface="Arial" charset="0"/>
              <a:buChar char="•"/>
            </a:pPr>
            <a:r>
              <a:rPr lang="zh-CN" sz="1800"/>
              <a:t>无需修改现有代码，无需编写大量重复的</a:t>
            </a:r>
            <a:r>
              <a:rPr lang="en-US" sz="1800"/>
              <a:t> UICollectionViewDataSource</a:t>
            </a:r>
            <a:r>
              <a:rPr lang="zh-CN" sz="1800"/>
              <a:t>和</a:t>
            </a:r>
            <a:r>
              <a:rPr lang="en-US" sz="1800"/>
              <a:t> Delegate</a:t>
            </a:r>
            <a:r>
              <a:rPr lang="zh-CN" sz="1800"/>
              <a:t>方法</a:t>
            </a:r>
            <a:endParaRPr/>
          </a:p>
        </p:txBody>
      </p:sp>
      <p:sp>
        <p:nvSpPr>
          <p:cNvPr id="84" name=""/>
          <p:cNvSpPr txBox="true"/>
          <p:nvPr/>
        </p:nvSpPr>
        <p:spPr>
          <a:xfrm rot="0" flipH="false" flipV="false">
            <a:off x="474679" y="13519"/>
            <a:ext cx="2616200" cy="7239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3200">
                <a:solidFill>
                  <a:srgbClr val="F88825">
                    <a:alpha val="100000"/>
                  </a:srgbClr>
                </a:solidFill>
              </a:rPr>
              <a:t>提升开发效率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true"/>
          <p:nvPr/>
        </p:nvSpPr>
        <p:spPr>
          <a:xfrm rot="0" flipH="false" flipV="false">
            <a:off x="474679" y="95454"/>
            <a:ext cx="1803400" cy="7239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3200">
                <a:solidFill>
                  <a:srgbClr val="F88825">
                    <a:alpha val="100000"/>
                  </a:srgbClr>
                </a:solidFill>
              </a:rPr>
              <a:t>提升性能</a:t>
            </a:r>
            <a:endParaRPr/>
          </a:p>
        </p:txBody>
      </p:sp>
      <p:sp>
        <p:nvSpPr>
          <p:cNvPr id="7" name=""/>
          <p:cNvSpPr txBox="true"/>
          <p:nvPr/>
        </p:nvSpPr>
        <p:spPr>
          <a:xfrm rot="0" flipH="false" flipV="false">
            <a:off x="474679" y="945433"/>
            <a:ext cx="154940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传统列表方式</a:t>
            </a:r>
            <a:endParaRPr/>
          </a:p>
        </p:txBody>
      </p:sp>
      <p:pic>
        <p:nvPicPr>
          <p:cNvPr id="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27000" y="1522361"/>
            <a:ext cx="11938000" cy="4927600"/>
          </a:xfrm>
          <a:prstGeom prst="rect"/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true"/>
          <p:nvPr/>
        </p:nvSpPr>
        <p:spPr>
          <a:xfrm rot="0" flipH="false" flipV="false">
            <a:off x="474679" y="95454"/>
            <a:ext cx="1803400" cy="7239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3200">
                <a:solidFill>
                  <a:srgbClr val="F88825">
                    <a:alpha val="100000"/>
                  </a:srgbClr>
                </a:solidFill>
              </a:rPr>
              <a:t>提升性能</a:t>
            </a:r>
            <a:endParaRPr/>
          </a:p>
        </p:txBody>
      </p:sp>
      <p:sp>
        <p:nvSpPr>
          <p:cNvPr id="11" name=""/>
          <p:cNvSpPr txBox="true"/>
          <p:nvPr/>
        </p:nvSpPr>
        <p:spPr>
          <a:xfrm rot="0" flipH="false" flipV="false">
            <a:off x="748958" y="1549605"/>
            <a:ext cx="8540750" cy="266700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800">
                <a:latin typeface="默认字体"/>
                <a:ea typeface="默认字体"/>
              </a:rPr>
              <a:t>使用</a:t>
            </a:r>
            <a:r>
              <a:rPr lang="en-US" sz="2800">
                <a:latin typeface="默认字体"/>
                <a:ea typeface="默认字体"/>
              </a:rPr>
              <a:t>DBXList</a:t>
            </a:r>
            <a:r>
              <a:rPr lang="zh-CN" sz="2800">
                <a:latin typeface="默认字体"/>
                <a:ea typeface="默认字体"/>
              </a:rPr>
              <a:t>的列表</a:t>
            </a:r>
            <a:endParaRPr/>
          </a:p>
          <a:p>
            <a:pPr/>
            <a:endParaRPr lang="en-US"/>
          </a:p>
          <a:p>
            <a:pPr/>
            <a:r>
              <a:rPr lang="zh-CN" sz="2400"/>
              <a:t>集合它们的优势：</a:t>
            </a:r>
            <a:endParaRPr/>
          </a:p>
          <a:p>
            <a:pPr/>
            <a:endParaRPr lang="zh-CN" sz="2000"/>
          </a:p>
          <a:p>
            <a:pPr marL="342900" indent="-342900">
              <a:buFont typeface="Arial" charset="0"/>
              <a:buChar char="•"/>
            </a:pPr>
            <a:r>
              <a:rPr lang="zh-CN" sz="2000" b="true"/>
              <a:t>一行代码完成刷新</a:t>
            </a:r>
            <a:r>
              <a:rPr lang="zh-CN" sz="2000"/>
              <a:t>，接口调用像方式</a:t>
            </a:r>
            <a:r>
              <a:rPr lang="en-US" sz="2000"/>
              <a:t>1</a:t>
            </a:r>
            <a:r>
              <a:rPr lang="zh-CN" sz="2000"/>
              <a:t>那样简单</a:t>
            </a:r>
            <a:endParaRPr/>
          </a:p>
          <a:p>
            <a:pPr marL="342900" indent="-342900">
              <a:buFont typeface="Arial" charset="0"/>
              <a:buChar char="•"/>
            </a:pPr>
            <a:r>
              <a:rPr lang="zh-CN" sz="2000" b="true"/>
              <a:t>自动计算出列表变更点</a:t>
            </a:r>
            <a:r>
              <a:rPr lang="zh-CN" sz="2000"/>
              <a:t>，只更新发生变更的部分，性能像方式</a:t>
            </a:r>
            <a:r>
              <a:rPr lang="en-US" sz="2000"/>
              <a:t>2</a:t>
            </a:r>
            <a:r>
              <a:rPr lang="zh-CN" sz="2000"/>
              <a:t>那样高效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16="http://schemas.microsoft.com/office/drawing/2014/main" xmlns:a="http://schemas.openxmlformats.org/drawingml/2006/main" xmlns:mc="http://schemas.openxmlformats.org/markup-compatibility/2006" mc:Ignorable="a16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"/>
          <p:cNvGraphicFramePr/>
          <p:nvPr/>
        </p:nvGraphicFramePr>
        <p:xfrm rot="0" flipH="false" flipV="false">
          <a:off x="901290" y="2216355"/>
          <a:ext cx="10160000" cy="2609850"/>
        </p:xfrm>
        <a:graphic>
          <a:graphicData uri="http://schemas.openxmlformats.org/drawingml/2006/table">
            <a:tbl>
              <a:tblPr firstRow="true" bandRow="true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val="1"/>
                    </a:ext>
                  </a:extLst>
                </a:gridCol>
                <a:gridCol w="3386667">
                  <a:extLst>
                    <a:ext uri="{9D8B030D-6E8A-4147-A177-3AD203B41FA5}">
                      <a16:colId val="2"/>
                    </a:ext>
                  </a:extLst>
                </a:gridCol>
                <a:gridCol w="338666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架构层面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传统方案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/>
                        <a:t>DBXList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数据管理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集中在单一</a:t>
                      </a:r>
                      <a:r>
                        <a:rPr lang="en-US"/>
                        <a:t>DataSource</a:t>
                      </a:r>
                      <a:r>
                        <a:rPr lang="zh-CN"/>
                        <a:t>中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分散到各自的</a:t>
                      </a:r>
                      <a:r>
                        <a:rPr lang="en-US"/>
                        <a:t>Controller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视图管理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集中在单一的</a:t>
                      </a:r>
                      <a:r>
                        <a:rPr lang="en-US"/>
                        <a:t>Delegate</a:t>
                      </a:r>
                      <a:r>
                        <a:rPr lang="zh-CN"/>
                        <a:t>中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由各自的</a:t>
                      </a:r>
                      <a:r>
                        <a:rPr lang="en-US"/>
                        <a:t>Controller</a:t>
                      </a:r>
                      <a:r>
                        <a:rPr lang="zh-CN"/>
                        <a:t>处理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更新机制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手动调用</a:t>
                      </a:r>
                      <a:r>
                        <a:rPr lang="en-US"/>
                        <a:t>reloadData</a:t>
                      </a:r>
                      <a:r>
                        <a:rPr lang="zh-CN"/>
                        <a:t>或</a:t>
                      </a:r>
                      <a:r>
                        <a:rPr/>
                        <a:t>performBatchUpdates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数据驱动，自动差异计算及更新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扩展性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有限，需要修改核心类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zh-CN"/>
                        <a:t>强，新增</a:t>
                      </a:r>
                      <a:r>
                        <a:rPr lang="en-US"/>
                        <a:t>Controller</a:t>
                      </a:r>
                      <a:r>
                        <a:rPr lang="zh-CN"/>
                        <a:t>即可</a:t>
                      </a:r>
                      <a:endParaRPr/>
                    </a:p>
                  </a:txBody>
                  <a:tcPr/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4" name=""/>
          <p:cNvSpPr txBox="true"/>
          <p:nvPr/>
        </p:nvSpPr>
        <p:spPr>
          <a:xfrm rot="0" flipH="false" flipV="false">
            <a:off x="901290" y="1605936"/>
            <a:ext cx="26098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DBXList</a:t>
            </a:r>
            <a:r>
              <a:rPr lang="zh-CN"/>
              <a:t>和传统方案对比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1164785"/>
            <a:ext cx="10515600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Stubs </a:t>
            </a: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拦截网络请求返回预设的模拟响应</a:t>
            </a:r>
            <a:endParaRPr/>
          </a:p>
        </p:txBody>
      </p:sp>
      <p:sp>
        <p:nvSpPr>
          <p:cNvPr id="17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838200" y="2490348"/>
            <a:ext cx="10515600" cy="3686614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 sz="2400"/>
              <a:t>模拟网络错误和状态码，测试错误处理机制</a:t>
            </a:r>
            <a:endParaRPr/>
          </a:p>
          <a:p>
            <a:pPr>
              <a:buFont typeface="Arial" charset="0"/>
              <a:buChar char="•"/>
            </a:pPr>
            <a:r>
              <a:rPr lang="zh-CN" sz="2400"/>
              <a:t>模拟网络延迟和低速网络，测试弱网、超时等条件下下用户的体验</a:t>
            </a:r>
            <a:endParaRPr/>
          </a:p>
          <a:p>
            <a:pPr>
              <a:buFont typeface="Arial" charset="0"/>
              <a:buChar char="•"/>
            </a:pPr>
            <a:r>
              <a:rPr lang="zh-CN" sz="2400"/>
              <a:t>返回自定义数据，支持</a:t>
            </a:r>
            <a:r>
              <a:rPr lang="en-US" sz="2400"/>
              <a:t>NSData</a:t>
            </a:r>
            <a:r>
              <a:rPr lang="zh-CN" sz="2400"/>
              <a:t>、</a:t>
            </a:r>
            <a:r>
              <a:rPr lang="en-US" sz="2400"/>
              <a:t>JSON</a:t>
            </a:r>
            <a:r>
              <a:rPr lang="zh-CN" sz="2400"/>
              <a:t>、字典、本地文件加载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92532" y="1878118"/>
            <a:ext cx="11006935" cy="4979882"/>
          </a:xfrm>
          <a:prstGeom prst="rect"/>
        </p:spPr>
      </p:pic>
      <p:sp>
        <p:nvSpPr>
          <p:cNvPr id="20" name=""/>
          <p:cNvSpPr txBox="true"/>
          <p:nvPr/>
        </p:nvSpPr>
        <p:spPr>
          <a:xfrm rot="0" flipH="false" flipV="false">
            <a:off x="592532" y="611329"/>
            <a:ext cx="2921000" cy="5651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sz="2400" b="true"/>
              <a:t>加速器中的使用样例</a:t>
            </a:r>
            <a:endParaRPr/>
          </a:p>
        </p:txBody>
      </p:sp>
      <p:sp>
        <p:nvSpPr>
          <p:cNvPr id="21" name=""/>
          <p:cNvSpPr txBox="true"/>
          <p:nvPr/>
        </p:nvSpPr>
        <p:spPr>
          <a:xfrm rot="0" flipH="false" flipV="false">
            <a:off x="592532" y="1301873"/>
            <a:ext cx="96202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给</a:t>
            </a:r>
            <a:r>
              <a:rPr lang="en-US"/>
              <a:t>/appListFind/gameHome</a:t>
            </a:r>
            <a:r>
              <a:rPr lang="zh-CN"/>
              <a:t>这个接口返回存放在</a:t>
            </a:r>
            <a:r>
              <a:rPr lang="en-US"/>
              <a:t>herolist.geojson</a:t>
            </a:r>
            <a:r>
              <a:rPr lang="zh-CN"/>
              <a:t>文件中</a:t>
            </a:r>
            <a:r>
              <a:rPr lang="en-US"/>
              <a:t>json</a:t>
            </a:r>
            <a:r>
              <a:rPr lang="zh-CN"/>
              <a:t>数据</a:t>
            </a:r>
            <a:r>
              <a:rPr lang="zh-CN"/>
              <a:t>，请求时间</a:t>
            </a:r>
            <a:r>
              <a:rPr lang="en-US"/>
              <a:t>1</a:t>
            </a:r>
            <a:r>
              <a:rPr lang="zh-CN"/>
              <a:t>秒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1164785"/>
            <a:ext cx="10515600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Debounce </a:t>
            </a: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给函数执行提供节流和防抖功能</a:t>
            </a:r>
            <a:endParaRPr/>
          </a:p>
        </p:txBody>
      </p:sp>
      <p:sp>
        <p:nvSpPr>
          <p:cNvPr id="24" name="内容占位符 2"/>
          <p:cNvSpPr>
            <a:spLocks noGrp="true"/>
          </p:cNvSpPr>
          <p:nvPr>
            <p:ph idx="1"/>
          </p:nvPr>
        </p:nvSpPr>
        <p:spPr>
          <a:xfrm rot="0" flipH="false" flipV="false">
            <a:off x="838200" y="2912721"/>
            <a:ext cx="10515600" cy="3686614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 sz="2400"/>
              <a:t>控制函数执行的频次，如函数一秒内被调用了</a:t>
            </a:r>
            <a:r>
              <a:rPr lang="en-US" sz="2400"/>
              <a:t>100</a:t>
            </a:r>
            <a:r>
              <a:rPr lang="zh-CN" sz="2400"/>
              <a:t>次，但是只执行了</a:t>
            </a:r>
            <a:r>
              <a:rPr lang="en-US" sz="2400"/>
              <a:t>1</a:t>
            </a:r>
            <a:r>
              <a:rPr lang="zh-CN" sz="2400"/>
              <a:t>次</a:t>
            </a:r>
            <a:endParaRPr/>
          </a:p>
          <a:p>
            <a:pPr>
              <a:buFont typeface="Arial" charset="0"/>
              <a:buChar char="•"/>
            </a:pPr>
            <a:r>
              <a:rPr lang="zh-CN" sz="2400"/>
              <a:t>支持</a:t>
            </a:r>
            <a:r>
              <a:rPr lang="en-US" sz="2400"/>
              <a:t>3</a:t>
            </a:r>
            <a:r>
              <a:rPr lang="zh-CN" sz="2400"/>
              <a:t>种节流模式：</a:t>
            </a:r>
            <a:endParaRPr/>
          </a:p>
          <a:p>
            <a:pPr>
              <a:buFont typeface="Arial" charset="0"/>
              <a:buAutoNum type="arabicPeriod" startAt="1"/>
            </a:pPr>
            <a:r>
              <a:rPr lang="zh-CN" sz="1800"/>
              <a:t>在设定的时间内（如</a:t>
            </a:r>
            <a:r>
              <a:rPr lang="en-US" sz="1800"/>
              <a:t>1</a:t>
            </a:r>
            <a:r>
              <a:rPr lang="zh-CN" sz="1800"/>
              <a:t>秒）只执行第一次调用，忽略后续所有调用</a:t>
            </a:r>
            <a:endParaRPr/>
          </a:p>
          <a:p>
            <a:pPr>
              <a:buFont typeface="Arial" charset="0"/>
              <a:buAutoNum type="arabicPeriod" startAt="1"/>
            </a:pPr>
            <a:r>
              <a:rPr lang="zh-CN" sz="1800"/>
              <a:t>在设定时间结束时只执行最后一次调用</a:t>
            </a:r>
            <a:endParaRPr/>
          </a:p>
          <a:p>
            <a:pPr>
              <a:buFont typeface="Arial" charset="0"/>
              <a:buAutoNum type="arabicPeriod" startAt="1"/>
            </a:pPr>
            <a:r>
              <a:rPr lang="zh-CN" sz="1800"/>
              <a:t>每次调用都充值计时器，知道连续停止时间超过设定的阈值后才执行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内容占位符 2"/>
          <p:cNvSpPr txBox="true">
            <a:spLocks noGrp="true"/>
          </p:cNvSpPr>
          <p:nvPr/>
        </p:nvSpPr>
        <p:spPr>
          <a:xfrm rot="0" flipH="false" flipV="false">
            <a:off x="838200" y="1182707"/>
            <a:ext cx="10515600" cy="2675142"/>
          </a:xfrm>
          <a:prstGeom prst="rect"/>
          <a:ln>
            <a:extLst/>
          </a:ln>
        </p:spPr>
        <p:txBody>
          <a:bodyPr vert="horz" lIns="91440" tIns="45720" rIns="91440" bIns="45720">
            <a:normAutofit fontScale="100000"/>
          </a:bodyPr>
          <a:lstStyle/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控制函数调用的频次，减少高频调用带来的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cpu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和内存开销，如高速滚动视图的过度渲染</a:t>
            </a:r>
            <a:endParaRPr sz="28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防止用户快速操作（如连续点击）导致的界面闪烁或不必要的网络请求</a:t>
            </a:r>
            <a:endParaRPr sz="28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控制</a:t>
            </a:r>
            <a:r>
              <a:rPr lang="en-US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api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请求频率，避免请求过多给后端带来压力</a:t>
            </a:r>
            <a:endParaRPr sz="28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通过运行时继承，无需修改业务代码逻辑</a:t>
            </a:r>
            <a:endParaRPr/>
          </a:p>
        </p:txBody>
      </p:sp>
      <p:pic>
        <p:nvPicPr>
          <p:cNvPr id="2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095463" y="5022903"/>
            <a:ext cx="7327900" cy="698500"/>
          </a:xfrm>
          <a:prstGeom prst="rect"/>
        </p:spPr>
      </p:pic>
      <p:sp>
        <p:nvSpPr>
          <p:cNvPr id="28" name=""/>
          <p:cNvSpPr txBox="true"/>
          <p:nvPr/>
        </p:nvSpPr>
        <p:spPr>
          <a:xfrm rot="0" flipH="false" flipV="false">
            <a:off x="1014838" y="4277099"/>
            <a:ext cx="772160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b="true"/>
              <a:t>调用简单，一行代码设置好防抖，如以下为给测速模式绘制图标的函数限频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1164785"/>
            <a:ext cx="10515600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 b="true">
                <a:solidFill>
                  <a:srgbClr val="F88825">
                    <a:alpha val="100000"/>
                  </a:srgbClr>
                </a:solidFill>
              </a:rPr>
              <a:t>Track </a:t>
            </a: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</a:rPr>
              <a:t>追踪和记录指定类中任何方法的调用情况</a:t>
            </a:r>
            <a:endParaRPr/>
          </a:p>
        </p:txBody>
      </p:sp>
      <p:sp>
        <p:nvSpPr>
          <p:cNvPr id="31" name="内容占位符 2"/>
          <p:cNvSpPr txBox="true">
            <a:spLocks noGrp="true"/>
          </p:cNvSpPr>
          <p:nvPr/>
        </p:nvSpPr>
        <p:spPr>
          <a:xfrm rot="0" flipH="false" flipV="false">
            <a:off x="838200" y="2966072"/>
            <a:ext cx="10515600" cy="3686614"/>
          </a:xfrm>
          <a:prstGeom prst="rect"/>
          <a:ln>
            <a:extLst/>
          </a:ln>
        </p:spPr>
        <p:txBody>
          <a:bodyPr vert="horz" lIns="91440" tIns="45720" rIns="91440" bIns="45720">
            <a:normAutofit fontScale="100000"/>
          </a:bodyPr>
          <a:lstStyle/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追踪类的所有函数，包括公开函数私有函数，静态函数实例函数，</a:t>
            </a:r>
            <a:endParaRPr/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记录函数</a:t>
            </a:r>
            <a:r>
              <a:rPr lang="zh-CN" sz="2400"/>
              <a:t>的</a:t>
            </a:r>
            <a:r>
              <a:rPr lang="zh-CN" sz="2400" b="true"/>
              <a:t>调用顺序、参数值、返回值以及执行时间</a:t>
            </a:r>
            <a:r>
              <a:rPr lang="zh-CN" sz="2400"/>
              <a:t>等</a:t>
            </a:r>
            <a:endParaRPr/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有需要的话可以修改参数值、返回值</a:t>
            </a:r>
            <a:endParaRPr/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通过运行时继承，无需修改业务代码逻辑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2"/>
          <p:cNvSpPr txBox="true">
            <a:spLocks noGrp="true"/>
          </p:cNvSpPr>
          <p:nvPr/>
        </p:nvSpPr>
        <p:spPr>
          <a:xfrm rot="0" flipH="false" flipV="false">
            <a:off x="838200" y="1089219"/>
            <a:ext cx="10515600" cy="3242011"/>
          </a:xfrm>
          <a:prstGeom prst="rect"/>
          <a:ln>
            <a:extLst/>
          </a:ln>
        </p:spPr>
        <p:txBody>
          <a:bodyPr vert="horz" lIns="91440" tIns="45720" rIns="91440" bIns="45720">
            <a:normAutofit fontScale="100000"/>
          </a:bodyPr>
          <a:lstStyle/>
          <a:p>
            <a:pPr indent="0" algn="l" defTabSz="914400">
              <a:lnSpc>
                <a:spcPct val="130000"/>
              </a:lnSpc>
              <a:spcBef>
                <a:spcPts val="1000"/>
              </a:spcBef>
              <a:buNone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应用场景</a:t>
            </a:r>
            <a:endParaRPr/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endParaRPr lang="en-US" sz="2400">
              <a:solidFill>
                <a:srgbClr val="000000">
                  <a:alpha val="100000"/>
                </a:srgbClr>
              </a:solidFill>
              <a:latin typeface="Arial"/>
              <a:ea typeface="Microsoft YaHei"/>
            </a:endParaRPr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调试复杂业务：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清晰的展示调用栈和参数传递，快速定位问题</a:t>
            </a:r>
            <a:endParaRPr/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性能分析：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记录函数调用耗时，直观的发现问题</a:t>
            </a:r>
            <a:endParaRPr/>
          </a:p>
          <a:p>
            <a:pPr marL="228600" indent="-228600" algn="l" defTabSz="914400">
              <a:lnSpc>
                <a:spcPct val="130000"/>
              </a:lnSpc>
              <a:spcBef>
                <a:spcPts val="1000"/>
              </a:spcBef>
              <a:buFont typeface="Arial" charset="0"/>
              <a:buChar char="•"/>
              <a:defRPr sz="28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快速熟悉代码：</a:t>
            </a:r>
            <a:r>
              <a:rPr lang="zh-CN" sz="20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rPr>
              <a:t>在学习第三方库或者团队同事的业务代码时，通过观察调用流程，更快的理解内部工作机制</a:t>
            </a:r>
            <a:endParaRPr/>
          </a:p>
        </p:txBody>
      </p:sp>
      <p:pic>
        <p:nvPicPr>
          <p:cNvPr id="3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838200" y="5329760"/>
            <a:ext cx="9804400" cy="711200"/>
          </a:xfrm>
          <a:prstGeom prst="rect"/>
        </p:spPr>
      </p:pic>
      <p:sp>
        <p:nvSpPr>
          <p:cNvPr id="35" name=""/>
          <p:cNvSpPr txBox="true"/>
          <p:nvPr/>
        </p:nvSpPr>
        <p:spPr>
          <a:xfrm rot="0" flipH="false" flipV="false">
            <a:off x="937032" y="4723299"/>
            <a:ext cx="543560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 b="true"/>
              <a:t>调用简单，一行代码设置需要追踪的类或者实例对象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838200" y="1164785"/>
            <a:ext cx="10515600" cy="1325563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lang="en-US">
                <a:solidFill>
                  <a:srgbClr val="F88825">
                    <a:alpha val="100000"/>
                  </a:srgbClr>
                </a:solidFill>
              </a:rPr>
              <a:t>Extension</a:t>
            </a:r>
            <a:r>
              <a:rPr lang="zh-CN">
                <a:solidFill>
                  <a:srgbClr val="F88825">
                    <a:alpha val="100000"/>
                  </a:srgbClr>
                </a:solidFill>
              </a:rPr>
              <a:t>扩展</a:t>
            </a:r>
            <a:r>
              <a:rPr lang="en-US"/>
              <a:t> </a:t>
            </a:r>
            <a:r>
              <a:rPr lang="zh-CN" sz="2000"/>
              <a:t>常用类的一些扩展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xfrm rot="0" flipH="false" flipV="false">
            <a:off x="586902" y="598454"/>
            <a:ext cx="5035685" cy="1487690"/>
          </a:xfrm>
        </p:spPr>
        <p:txBody>
          <a:bodyPr>
            <a:normAutofit fontScale="100000"/>
          </a:bodyPr>
          <a:lstStyle/>
          <a:p>
            <a:pPr>
              <a:buNone/>
            </a:pPr>
            <a:r>
              <a:rPr sz="2400" b="true">
                <a:solidFill>
                  <a:srgbClr val="F88825">
                    <a:alpha val="100000"/>
                  </a:srgbClr>
                </a:solidFill>
                <a:latin typeface="-apple-system"/>
                <a:ea typeface="-apple-system"/>
              </a:rPr>
              <a:t>NSDictionary+dbx_valuePath</a:t>
            </a:r>
            <a:endParaRPr/>
          </a:p>
          <a:p>
            <a:pPr>
              <a:buNone/>
            </a:pPr>
            <a:r>
              <a:rPr lang="zh-CN" sz="2000" b="true">
                <a:latin typeface="-apple-system"/>
                <a:ea typeface="-apple-system"/>
              </a:rPr>
              <a:t>方便的从字典里解析内容</a:t>
            </a:r>
            <a:endParaRPr/>
          </a:p>
        </p:txBody>
      </p:sp>
      <p:sp>
        <p:nvSpPr>
          <p:cNvPr id="43" name=""/>
          <p:cNvSpPr txBox="true"/>
          <p:nvPr/>
        </p:nvSpPr>
        <p:spPr>
          <a:xfrm rot="0" flipH="false" flipV="false">
            <a:off x="713362" y="3280958"/>
            <a:ext cx="4794250" cy="17589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 sz="2400" b="true"/>
              <a:t>传统写法</a:t>
            </a:r>
            <a:br>
              <a:rPr/>
            </a:br>
            <a:endParaRPr/>
          </a:p>
          <a:p>
            <a:pPr marL="285750" indent="-285750">
              <a:buFont typeface="Arial" charset="0"/>
              <a:buChar char="•"/>
            </a:pPr>
            <a:r>
              <a:rPr lang="zh-CN"/>
              <a:t>每次取值都要</a:t>
            </a:r>
            <a:r>
              <a:rPr lang="en-US"/>
              <a:t>if</a:t>
            </a:r>
            <a:r>
              <a:rPr lang="zh-CN"/>
              <a:t>来保证安全，产生大量</a:t>
            </a:r>
            <a:r>
              <a:rPr lang="en-US"/>
              <a:t>if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zh-CN"/>
              <a:t>每个字段取值都得单独处理</a:t>
            </a:r>
            <a:endParaRPr/>
          </a:p>
        </p:txBody>
      </p:sp>
      <p:pic>
        <p:nvPicPr>
          <p:cNvPr id="4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872961" y="592104"/>
            <a:ext cx="5229541" cy="5592356"/>
          </a:xfrm>
          <a:prstGeom prst="rect"/>
        </p:spPr>
      </p:pic>
    </p:spTree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 txBox="true">
            <a:spLocks noGrp="true"/>
          </p:cNvSpPr>
          <p:nvPr/>
        </p:nvSpPr>
        <p:spPr>
          <a:xfrm rot="0" flipH="false" flipV="false">
            <a:off x="586902" y="598454"/>
            <a:ext cx="5035685" cy="1487690"/>
          </a:xfrm>
          <a:prstGeom prst="rect"/>
          <a:ln>
            <a:extLst/>
          </a:ln>
        </p:spPr>
        <p:txBody>
          <a:bodyPr vert="horz" lIns="91440" tIns="45720" rIns="91440" bIns="45720" anchor="ctr">
            <a:normAutofit fontScale="100000"/>
          </a:bodyPr>
          <a:lstStyle/>
          <a:p>
            <a:pPr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sz="2400" b="true" kern="1200">
                <a:solidFill>
                  <a:srgbClr val="F88825"/>
                </a:solidFill>
                <a:latin typeface="-apple-system"/>
                <a:ea typeface="-apple-system"/>
              </a:rPr>
              <a:t>NSDictionary+dbx_valuePath</a:t>
            </a:r>
            <a:endParaRPr sz="4400" kern="1200">
              <a:solidFill>
                <a:srgbClr val="000000"/>
              </a:solidFill>
              <a:latin typeface="Arial"/>
              <a:ea typeface="Microsoft YaHei"/>
            </a:endParaRPr>
          </a:p>
          <a:p>
            <a:pPr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rgbClr val="000000"/>
                </a:solidFill>
                <a:latin typeface="Arial"/>
                <a:ea typeface="Microsoft YaHei"/>
              </a:defRPr>
            </a:pPr>
            <a:r>
              <a:rPr lang="zh-CN" sz="2000" b="true" kern="1200">
                <a:solidFill>
                  <a:srgbClr val="000000"/>
                </a:solidFill>
                <a:latin typeface="-apple-system"/>
                <a:ea typeface="-apple-system"/>
              </a:rPr>
              <a:t>方便的从字典里解析内容</a:t>
            </a:r>
            <a:endParaRPr sz="4400" kern="120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sp>
        <p:nvSpPr>
          <p:cNvPr id="47" name=""/>
          <p:cNvSpPr txBox="true"/>
          <p:nvPr/>
        </p:nvSpPr>
        <p:spPr>
          <a:xfrm rot="0" flipH="false" flipV="false">
            <a:off x="6096000" y="930444"/>
            <a:ext cx="5035677" cy="2311400"/>
          </a:xfrm>
          <a:prstGeom prst="rect">
            <a:avLst/>
          </a:prstGeom>
          <a:ln w="28575">
            <a:solidFill>
              <a:srgbClr val="FF0000">
                <a:alpha val="100000"/>
              </a:srgbClr>
            </a:solidFill>
          </a:ln>
        </p:spPr>
        <p:txBody>
          <a:bodyPr wrap="square">
            <a:spAutoFit/>
          </a:bodyPr>
          <a:lstStyle/>
          <a:p>
            <a:pPr/>
            <a:r>
              <a:rPr lang="en-US" sz="1600"/>
              <a:t>{
	"content" : {</a:t>
            </a:r>
            <a:endParaRPr/>
          </a:p>
          <a:p>
            <a:pPr/>
            <a:r>
              <a:rPr lang="en-US" sz="1600"/>
              <a:t>		"zindex" : "abc",
		"sessionid" : "efg",</a:t>
            </a:r>
            <a:endParaRPr/>
          </a:p>
          <a:p>
            <a:pPr/>
            <a:r>
              <a:rPr lang="en-US" sz="1600"/>
              <a:t>		"lines" : ["a","b","c"]
	}</a:t>
            </a:r>
            <a:endParaRPr/>
          </a:p>
          <a:p>
            <a:pPr/>
            <a:r>
              <a:rPr lang="en-US" sz="1600"/>
              <a:t>}</a:t>
            </a:r>
            <a:endParaRPr/>
          </a:p>
        </p:txBody>
      </p:sp>
      <p:pic>
        <p:nvPicPr>
          <p:cNvPr id="4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86902" y="3745739"/>
            <a:ext cx="10614895" cy="2757384"/>
          </a:xfrm>
          <a:prstGeom prst="rect"/>
        </p:spPr>
      </p:pic>
      <p:sp>
        <p:nvSpPr>
          <p:cNvPr id="49" name=""/>
          <p:cNvSpPr txBox="true"/>
          <p:nvPr/>
        </p:nvSpPr>
        <p:spPr>
          <a:xfrm rot="0" flipH="false" flipV="false">
            <a:off x="586902" y="1920992"/>
            <a:ext cx="4654550" cy="163830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sz="2400" b="true"/>
              <a:t>用</a:t>
            </a:r>
            <a:r>
              <a:rPr lang="en-US" sz="2400" b="true"/>
              <a:t>dbx_valuePath</a:t>
            </a:r>
            <a:r>
              <a:rPr lang="zh-CN" sz="2400" b="true"/>
              <a:t>的写法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zh-CN"/>
              <a:t>声明好变量后，一行代码就给所有变量都取值，并且支持解析多层嵌套里的字段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zh-CN"/>
              <a:t>保证数据类型安全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 txBox="true">
            <a:spLocks noGrp="true"/>
          </p:cNvSpPr>
          <p:nvPr/>
        </p:nvSpPr>
        <p:spPr>
          <a:xfrm rot="0" flipH="false" flipV="false">
            <a:off x="586902" y="598454"/>
            <a:ext cx="5035685" cy="1487690"/>
          </a:xfrm>
          <a:prstGeom prst="rect"/>
          <a:ln>
            <a:extLst/>
          </a:ln>
        </p:spPr>
        <p:txBody>
          <a:bodyPr vert="horz" lIns="91440" tIns="45720" rIns="91440" bIns="45720" anchor="ctr">
            <a:normAutofit fontScale="100000"/>
          </a:bodyPr>
          <a:lstStyle/>
          <a:p>
            <a:pPr algn="l" defTabSz="914400">
              <a:lnSpc>
                <a:spcPct val="13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en-US" sz="2400" b="true">
                <a:solidFill>
                  <a:srgbClr val="F88825">
                    <a:alpha val="100000"/>
                  </a:srgbClr>
                </a:solidFill>
                <a:latin typeface="-apple-system"/>
                <a:ea typeface="-apple-system"/>
              </a:rPr>
              <a:t>UIView+dbx_clickedArea</a:t>
            </a:r>
            <a:endParaRPr/>
          </a:p>
          <a:p>
            <a:pPr algn="l" defTabSz="914400">
              <a:lnSpc>
                <a:spcPct val="130000"/>
              </a:lnSpc>
              <a:spcBef>
                <a:spcPct val="1"/>
              </a:spcBef>
              <a:buNone/>
              <a:defRPr sz="4400">
                <a:solidFill>
                  <a:srgbClr val="000000">
                    <a:alpha val="100000"/>
                  </a:srgbClr>
                </a:solidFill>
                <a:latin typeface="Arial"/>
                <a:ea typeface="Microsoft YaHei"/>
              </a:defRPr>
            </a:pPr>
            <a:r>
              <a:rPr lang="zh-CN" sz="2000" b="true">
                <a:solidFill>
                  <a:srgbClr val="000000">
                    <a:alpha val="100000"/>
                  </a:srgbClr>
                </a:solidFill>
                <a:latin typeface="-apple-system"/>
                <a:ea typeface="-apple-system"/>
              </a:rPr>
              <a:t>扩大任意视图的交互区域</a:t>
            </a:r>
            <a:endParaRPr/>
          </a:p>
        </p:txBody>
      </p:sp>
      <p:pic>
        <p:nvPicPr>
          <p:cNvPr id="52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8799177" y="446549"/>
            <a:ext cx="2752046" cy="5964902"/>
          </a:xfrm>
          <a:prstGeom prst="rect"/>
        </p:spPr>
      </p:pic>
      <p:pic>
        <p:nvPicPr>
          <p:cNvPr id="53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622587" y="446549"/>
            <a:ext cx="2752046" cy="5964902"/>
          </a:xfrm>
          <a:prstGeom prst="rect"/>
        </p:spPr>
      </p:pic>
      <p:sp>
        <p:nvSpPr>
          <p:cNvPr id="54" name=""/>
          <p:cNvSpPr txBox="true"/>
          <p:nvPr/>
        </p:nvSpPr>
        <p:spPr>
          <a:xfrm rot="0" flipH="false" flipV="false">
            <a:off x="435543" y="2241821"/>
            <a:ext cx="4762500" cy="806450"/>
          </a:xfrm>
          <a:prstGeom prst="rect">
            <a:avLst/>
          </a:prstGeom>
          <a:ln w="6350">
            <a:prstDash val="solid"/>
          </a:ln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zh-CN"/>
              <a:t>不影响视图布局的情况下，扩大点击区域</a:t>
            </a:r>
            <a:endParaRPr/>
          </a:p>
          <a:p>
            <a:pPr marL="285750" indent="-285750">
              <a:buFont typeface="Arial" charset="0"/>
              <a:buChar char="•"/>
            </a:pPr>
            <a:r>
              <a:rPr lang="en-US"/>
              <a:t>hook</a:t>
            </a:r>
            <a:r>
              <a:rPr lang="zh-CN"/>
              <a:t>当前实例对象，不影响其他同类型视图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false" flipV="false">
            <a:off x="328776" y="3429000"/>
            <a:ext cx="4279331" cy="3097160"/>
          </a:xfrm>
          <a:prstGeom prst="wedgeRoundRectCallout">
            <a:avLst>
              <a:gd name="adj1" fmla="val 76188"/>
              <a:gd name="adj2" fmla="val 25835"/>
              <a:gd name="adj3" fmla="val 16667"/>
            </a:avLst>
          </a:prstGeom>
          <a:solidFill>
            <a:srgbClr val="F88825">
              <a:alpha val="100000"/>
            </a:srgb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pic>
        <p:nvPicPr>
          <p:cNvPr id="56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88430" y="3602675"/>
            <a:ext cx="3560023" cy="274981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Office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2026-03-16T16:44:37Z</dcterms:created>
  <dcterms:modified xsi:type="dcterms:W3CDTF">2026-03-16T16:44:37Z</dcterms:modified>
</cp:coreProperties>
</file>